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0096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20" y="5029200"/>
            <a:ext cx="1645920" cy="1645920"/>
          </a:xfrm>
          <a:prstGeom prst="ellipse">
            <a:avLst/>
          </a:prstGeom>
          <a:solidFill>
            <a:srgbClr val="7B61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DIPLOMA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9164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Development of a Cryptocurrency</a:t>
            </a:r>
            <a:br>
              <a:rPr dirty="0"/>
            </a:br>
            <a:r>
              <a:rPr dirty="0"/>
              <a:t>Trading Indicator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Aiturgan Tuuganbekova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Computer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840480"/>
            <a:ext cx="219456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97680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Dr. </a:t>
            </a:r>
            <a:r>
              <a:rPr lang="en-US" sz="1400" dirty="0"/>
              <a:t>Nargiza</a:t>
            </a:r>
            <a:r>
              <a:rPr lang="ru-RU" sz="1400" dirty="0"/>
              <a:t> </a:t>
            </a:r>
            <a:r>
              <a:rPr lang="en-US" sz="1400" dirty="0" err="1"/>
              <a:t>Zhumalieva</a:t>
            </a:r>
            <a:endParaRPr lang="en-US" sz="1400" dirty="0"/>
          </a:p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90687" y="564238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Rapid growth of cryptocurrency markets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50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High volatility and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Difficulty of making data-driven trading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9436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Need for automated and analytical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Retail traders lack reliable, adaptive, and research-based indicators</a:t>
            </a:r>
            <a:br/>
            <a:r>
              <a:t>for spot cryptocurrency trading.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097280"/>
            <a:ext cx="4114800" cy="3291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Calibri"/>
              </a:defRPr>
            </a:pPr>
            <a:r>
              <a:t>Crypto Market Volatility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108960"/>
            <a:ext cx="22860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28432" y="2377440"/>
            <a:ext cx="228600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75904" y="2926080"/>
            <a:ext cx="228600" cy="10972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723376" y="1737360"/>
            <a:ext cx="228600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70848" y="3291840"/>
            <a:ext cx="228600" cy="7315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18320" y="2194560"/>
            <a:ext cx="228600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65792" y="2651760"/>
            <a:ext cx="228600" cy="13716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13264" y="1463040"/>
            <a:ext cx="228600" cy="2560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460736" y="2834640"/>
            <a:ext cx="228600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808208" y="2468880"/>
            <a:ext cx="228600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Most traders rely 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Simple indicators (RSI, MACD, Moving Averages)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Subjective chart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Many indicators: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Lag behind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Produce false signals in volatile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 Are not optimized for crypto-specific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1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515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There is no adaptive, research-driven indicator specifically optimized for</a:t>
            </a:r>
            <a:br/>
            <a:r>
              <a:t>Binance Spot trading with integrated backtesting and signal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914400"/>
          </a:xfrm>
          <a:prstGeom prst="roundRect">
            <a:avLst/>
          </a:prstGeom>
          <a:solidFill>
            <a:srgbClr val="0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MAIN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Develop and validate a cryptocurrency trading indicator with backtesting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Analyze existing technical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292608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Compare effectiveness in crypto 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7432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01000" y="292608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29992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Design a new composite 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Implement backtesting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434840" y="429768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Integrate Telegram notification system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114800"/>
            <a:ext cx="329184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01000" y="429768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343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Evaluate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Widely Used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0116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Relative Strength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974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Moving Average Convergence Divergence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832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Bollinger Bands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EMA/SMA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Exponential / Simple Moving Average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54880"/>
            <a:ext cx="1097280" cy="41148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Average True Range (volatility)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Research Focus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217627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Signal lag problem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295351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Overfitting in backtesting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373075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Market regime adaptation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4507992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Noise filtering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 of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Comparison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Signal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Responsiveness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Adaptability to volatility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False positive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Performance on 5m–4h timeframes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RSI works better in range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MACD works better in trending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Single indicators fail in mixed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✓  Composite approaches perform better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0A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515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There is potential for hybrid or adaptive indicator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hybrid trading indicator for Binance Spot market that: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Combines trend + momentum + volatility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Filters noise using adaptive thresholds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Works on 5m–4h timeframes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Includes historical backtesting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6400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Sends Telegram alerts with entry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011680"/>
            <a:ext cx="3657600" cy="36576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0" y="2011680"/>
            <a:ext cx="3657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CORE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834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Reduce false signals by confirming trades across multiple logic layers.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Spring Boot</a:t>
            </a:r>
            <a:br/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61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Binance API</a:t>
            </a:r>
            <a:br/>
            <a:r>
              <a:t>Telegram Bot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SYSTEM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6888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1752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1752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57200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2064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2064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67512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22376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22376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Indicator</a:t>
            </a:r>
            <a:br/>
            <a:r>
              <a:t>Engine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778240" y="4343400"/>
            <a:ext cx="45720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326880" y="411480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326880" y="4114800"/>
            <a:ext cx="14630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26880" y="4206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521208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23760" y="5212080"/>
            <a:ext cx="146304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23760" y="5303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Backtesting</a:t>
            </a:r>
            <a:br/>
            <a:r>
              <a:t>Engine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5212080"/>
            <a:ext cx="1463040" cy="8229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326880" y="5212080"/>
            <a:ext cx="146304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0" y="5303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Telegram</a:t>
            </a:r>
            <a:br/>
            <a:r>
              <a:t>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Indicator Logic (Conceptual)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25880" y="219456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Trend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EMA-based direction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315468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42316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Momentum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RSI or custom oscillator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411480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Volatility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ATR-based threshold adjustment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074920"/>
            <a:ext cx="38100" cy="274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434340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448056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Entry 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Condition alignment check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Exit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715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Stop-loss and take-profit rules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1828800"/>
            <a:ext cx="3474720" cy="320040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1828800"/>
            <a:ext cx="34747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SIGNAL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5176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Signal is generated ONLY when ALL conditions align.</a:t>
            </a:r>
            <a:br/>
            <a:br/>
            <a:r>
              <a:t>This multi-layer approach significantly reduces false positives.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Backtesting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Backtesting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Historical candle data from 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Parameter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▸  Visualization of trades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24688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65760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3657600"/>
            <a:ext cx="246888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Profit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60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ratio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846320"/>
            <a:ext cx="246888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0" y="4846320"/>
            <a:ext cx="246888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349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risk-adj.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5029200" cy="381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1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Validate strategy scientifically</a:t>
            </a:r>
            <a:br/>
            <a:r>
              <a:t>before live use.</a:t>
            </a:r>
            <a:br/>
            <a:br/>
            <a:r>
              <a:t>Ensure reliability through</a:t>
            </a:r>
            <a:br/>
            <a:r>
              <a:t>data-driven evaluation.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114800"/>
            <a:ext cx="4389120" cy="1645920"/>
          </a:xfrm>
          <a:prstGeom prst="roundRect">
            <a:avLst/>
          </a:prstGeom>
          <a:solidFill>
            <a:srgbClr val="0A1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4206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Backtest Result Preview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5303520"/>
            <a:ext cx="201168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87768" y="5120640"/>
            <a:ext cx="201168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26096" y="5212080"/>
            <a:ext cx="201168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64424" y="4846320"/>
            <a:ext cx="201168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02752" y="5029200"/>
            <a:ext cx="201168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41080" y="4663440"/>
            <a:ext cx="201168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79408" y="4937760"/>
            <a:ext cx="201168" cy="6400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17736" y="4754880"/>
            <a:ext cx="201168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56064" y="5120640"/>
            <a:ext cx="201168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994392" y="4846320"/>
            <a:ext cx="201168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332720" y="4572000"/>
            <a:ext cx="20116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671048" y="5029200"/>
            <a:ext cx="201168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MVP (Minimum Viable Product)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Indicator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Calculation and signal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Endpoints for frontend 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Binance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Spot data feed and pair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5603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57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Historical validation and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10515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Telegram Alert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5262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453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Entry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Exact price level for trade entry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5262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453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Active timeframe (5m, 15m, 1h, 4h)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2120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Trading Pair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Supported Binance Spot pairs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212080"/>
            <a:ext cx="137160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Signal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BUY or SELL with confidence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 Scheme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Entity relationships</a:t>
            </a:r>
            <a:br/>
            <a:r>
              <a:t>and data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56032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UML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Class structure</a:t>
            </a:r>
            <a:br/>
            <a:r>
              <a:t>and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Sequence Diagram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Component</a:t>
            </a:r>
            <a:br/>
            <a:r>
              <a:t>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Signal Flowchart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Generation</a:t>
            </a:r>
            <a:br/>
            <a:r>
              <a:t>process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/>
              </a:defRPr>
            </a:pPr>
            <a:r>
              <a:t>SIGNAL GENERATION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206240"/>
            <a:ext cx="155448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</a:t>
            </a:r>
            <a:br/>
            <a:r>
              <a:t>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6032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92608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26080" y="4206240"/>
            <a:ext cx="15544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Indicator</a:t>
            </a:r>
            <a:br/>
            <a:r>
              <a:t>Calculation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57200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93776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37760" y="4206240"/>
            <a:ext cx="1554480" cy="50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  <a:br/>
            <a:r>
              <a:t>Validation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58368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4944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949440" y="4206240"/>
            <a:ext cx="155448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Backtest</a:t>
            </a:r>
            <a:br/>
            <a:r>
              <a:t>Evaluation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595360" y="4572000"/>
            <a:ext cx="320040" cy="22860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61120" y="4206240"/>
            <a:ext cx="1554480" cy="109728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61120" y="4206240"/>
            <a:ext cx="1554480" cy="508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0" y="4389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Telegram</a:t>
            </a:r>
            <a:br/>
            <a:r>
              <a:t>Notification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Task Plan (Timeline)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0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Market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7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17520" y="1371600"/>
            <a:ext cx="2011680" cy="82296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Architecture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Indicator logic design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03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20" y="1371600"/>
            <a:ext cx="2011680" cy="82296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Backend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Frontend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Binance integration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89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589520" y="1371600"/>
            <a:ext cx="2011680" cy="82296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Backtesting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Performance evaluation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46920" y="3200400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75520" y="1371600"/>
            <a:ext cx="2011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75520" y="1371600"/>
            <a:ext cx="2011680" cy="822960"/>
          </a:xfrm>
          <a:prstGeom prst="roundRect">
            <a:avLst/>
          </a:prstGeom>
          <a:solidFill>
            <a:srgbClr val="00C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Documentation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&amp; Expected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Improved signal quality compared to</a:t>
            </a:r>
            <a:br/>
            <a:r>
              <a:t>single-indicator systems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8892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Scientifically validated performance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2900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Reduced emotional trading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069080"/>
            <a:ext cx="228600" cy="228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Practical tool for spot traders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1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10312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0" y="2103120"/>
            <a:ext cx="50800" cy="10515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Educational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Contributes to academic research</a:t>
            </a:r>
            <a:br/>
            <a:r>
              <a:t>in quantitative trading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38328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75120" y="3383280"/>
            <a:ext cx="50800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Research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Novel composite indicator approach</a:t>
            </a:r>
            <a:br/>
            <a:r>
              <a:t>for crypto markets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663440"/>
            <a:ext cx="4480560" cy="1051560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75120" y="4663440"/>
            <a:ext cx="50800" cy="105156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Startup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Potential for commercial product</a:t>
            </a:r>
            <a:br/>
            <a:r>
              <a:t>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515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Murphy, J. J. (1999). Technical Analysis of the Financial Markets: A Comprehensive Guide to Trading Methods and Applications. New York Institute of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Wilder, J. W. (1978). New Concepts in Technical Trading Systems. Trend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Bollinger, J. (2002). Bollinger on Bollinger Bands. McGraw-Hill.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Appel, G. (2005). Technical Analysis: Power Tools for Active Investors. FT Press.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Binance. (2025). Binance API Documentation. https://binance-docs.github.io/apidocs/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03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Nakamoto, S. (2008). Bitcoin: A Peer-to-Peer Electronic Cash System. https://bitcoin.org/bitcoin.pdf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60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Fama, E. F. (1970). Efficient Capital Markets: A Review of Theory and Empirical Work. The Journal of Finance, 25(2), 383–417.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17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Aronson, D. R. (2006). Evidence-Based Technical Analysis: Applying the Scientific Method and Statistical Inference to Trading Signals. Wiley.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 Prado, M. L. (2018). Advances in Financial Machine Learning. Wiley.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Calibri"/>
              </a:defRPr>
            </a:pPr>
            <a:r>
              <a:t>[10]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321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Chan, E. P. (2013). Algorithmic Trading: Winning Strategies and Their Rationale. Wiley.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APA 7th Edition Format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1008</Words>
  <Application>Microsoft Macintosh PowerPoint</Application>
  <PresentationFormat>Widescreen</PresentationFormat>
  <Paragraphs>244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raiymbek daniiaruulu</cp:lastModifiedBy>
  <cp:revision>3</cp:revision>
  <dcterms:created xsi:type="dcterms:W3CDTF">2013-01-27T09:14:16Z</dcterms:created>
  <dcterms:modified xsi:type="dcterms:W3CDTF">2026-03-04T05:31:01Z</dcterms:modified>
  <cp:category/>
</cp:coreProperties>
</file>