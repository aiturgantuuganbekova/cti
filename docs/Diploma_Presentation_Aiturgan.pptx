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4500"/>
            <a:ext cx="12191695" cy="635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0096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5029200"/>
            <a:ext cx="1645920" cy="1645920"/>
          </a:xfrm>
          <a:prstGeom prst="ellipse">
            <a:avLst/>
          </a:prstGeom>
          <a:solidFill>
            <a:srgbClr val="7B61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DIPLOMA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9164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Development of a Cryptocurrency</a:t>
            </a:r>
            <a:br/>
            <a:r>
              <a:t>Trading Indicator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840480"/>
            <a:ext cx="219456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Aiturgan Tuuganbekova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840480"/>
            <a:ext cx="219456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 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40480"/>
            <a:ext cx="219456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Computer Science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840480"/>
            <a:ext cx="219456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Dr. Daniiar Satybaldiev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9436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72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Rapid growth of cryptocurrency markets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436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50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50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High volatility and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9436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272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Difficulty of making data-driven trading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9436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Need for automated and analytical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57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Retail traders lack reliable, adaptive, and research-based indicators</a:t>
            </a:r>
            <a:br/>
            <a:r>
              <a:t>for spot cryptocurrency trading.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097280"/>
            <a:ext cx="4114800" cy="3291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Calibri"/>
              </a:defRPr>
            </a:pPr>
            <a:r>
              <a:t>Crypto Market Volatility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3108960"/>
            <a:ext cx="228600" cy="914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2" y="2377440"/>
            <a:ext cx="228600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75904" y="2926080"/>
            <a:ext cx="228600" cy="10972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23376" y="1737360"/>
            <a:ext cx="228600" cy="2286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70848" y="3291840"/>
            <a:ext cx="228600" cy="7315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18320" y="2194560"/>
            <a:ext cx="228600" cy="1828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65792" y="2651760"/>
            <a:ext cx="228600" cy="13716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13264" y="1463040"/>
            <a:ext cx="228600" cy="2560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60736" y="2834640"/>
            <a:ext cx="228600" cy="1188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08208" y="2468880"/>
            <a:ext cx="228600" cy="1554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Most traders rely 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Simple indicators (RSI, MACD, Moving Averages)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Subjective chart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Many indicators: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Lag behind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Produce false signals in volatile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Are not optimized for crypto-specific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515600" cy="2011680"/>
          </a:xfrm>
          <a:prstGeom prst="roundRect">
            <a:avLst/>
          </a:prstGeom>
          <a:solidFill>
            <a:srgbClr val="1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10515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KEY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There is no adaptive, research-driven indicator specifically optimized for</a:t>
            </a:r>
            <a:br/>
            <a:r>
              <a:t>Binance Spot trading with integrated backtesting and signal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914400"/>
          </a:xfrm>
          <a:prstGeom prst="roundRect">
            <a:avLst/>
          </a:prstGeom>
          <a:solidFill>
            <a:srgbClr val="0A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MAIN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Develop and validate a cryptocurrency trading indicator with backtesting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Analyze existing technical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7432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4840" y="292608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9992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Compare effectiveness in crypto markets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7432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01000" y="2926080"/>
            <a:ext cx="502920" cy="50292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9992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Design a new composite indicator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343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Implement backtesting module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1148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34840" y="429768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370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343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Integrate Telegram notification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1148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01000" y="4297680"/>
            <a:ext cx="502920" cy="50292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4370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343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Evaluate performance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Widely Used Indicators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0116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Relative Strength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974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Moving Average Convergence Divergence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3832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Bollinger Bands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0690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EMA/SMA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Exponential / Simple Moving Average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548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Average True Range (volatility)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1FF"/>
                </a:solidFill>
                <a:latin typeface="Calibri"/>
              </a:defRPr>
            </a:pPr>
            <a:r>
              <a:t>Research Focus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2176272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Signal lag problem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2953512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Overfitting in backtesting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3730752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Market regime adaptation</a:t>
            </a:r>
          </a:p>
        </p:txBody>
      </p:sp>
      <p:sp>
        <p:nvSpPr>
          <p:cNvPr id="31" name="Oval 30"/>
          <p:cNvSpPr/>
          <p:nvPr/>
        </p:nvSpPr>
        <p:spPr>
          <a:xfrm>
            <a:off x="6766560" y="4507992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Noise filtering techniques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Comparison of Existing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Comparison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Signal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Responsiveness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Adaptability to volatility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False positive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Performance on 5m–4h timeframes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✓  RSI works better in range 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✓  MACD works better in trending 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✓  Single indicators fail in mixed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00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✓  Composite approaches perform better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0A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There is potential for hybrid or adaptive indicator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 hybrid trading indicator for Binance Spot market that: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Combines trend + momentum + volatility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Filters noise using adaptive thresholds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Works on 5m–4h timeframes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480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Includes historical backtesting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21208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257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Sends Telegram alerts with entry 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011680"/>
            <a:ext cx="3657600" cy="365760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2011680"/>
            <a:ext cx="3657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CORE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8346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Reduce false signals by confirming trades across multiple logic layers.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603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256032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Spring Boot</a:t>
            </a:r>
            <a:br/>
            <a:r>
              <a:t>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560320" cy="50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External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Binance API</a:t>
            </a:r>
            <a:br/>
            <a:r>
              <a:t>Telegram Bot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74720"/>
            <a:ext cx="105156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Calibri"/>
              </a:defRPr>
            </a:pPr>
            <a:r>
              <a:t>SYSTEM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468880" y="434340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1752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572000" y="434340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2064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675120" y="434340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2376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2376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Indicator</a:t>
            </a:r>
            <a:br/>
            <a:r>
              <a:t>Engine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778240" y="434340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2688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2688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3760" y="521208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23760" y="5212080"/>
            <a:ext cx="1463040" cy="381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5303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Backtesting</a:t>
            </a:r>
            <a:br/>
            <a:r>
              <a:t>Engine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521208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26880" y="5212080"/>
            <a:ext cx="1463040" cy="381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5303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Telegram</a:t>
            </a:r>
            <a:br/>
            <a:r>
              <a:t>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Indicator Logic (Conceptual)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25880" y="2194560"/>
            <a:ext cx="3810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Trend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EMA-based direction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3154680"/>
            <a:ext cx="3810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42316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06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Momentum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RSI or custom oscillator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4114800"/>
            <a:ext cx="3810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Volatility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ATR-based threshold adjustment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074920"/>
            <a:ext cx="3810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34340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48056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Entry Trigger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Condition alignment check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5440680"/>
            <a:ext cx="502920" cy="50292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486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Exit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715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Stop-loss and take-profit rules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1828800"/>
            <a:ext cx="3474720" cy="320040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1828800"/>
            <a:ext cx="347472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SIGNAL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6517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Signal is generated ONLY when ALL conditions align.</a:t>
            </a:r>
            <a:br/>
            <a:br/>
            <a:r>
              <a:t>This multi-layer approach significantly reduces false positives.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Backtesting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Backtesting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▸  Historical candle data from 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▸  Parameter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▸  Visualization of trades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24688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24688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657600"/>
            <a:ext cx="24688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657600"/>
            <a:ext cx="24688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Profit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60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ratio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24688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24688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846320"/>
            <a:ext cx="24688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4846320"/>
            <a:ext cx="2468880" cy="381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349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risk-adj.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371600"/>
            <a:ext cx="5029200" cy="381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1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Validate strategy scientifically</a:t>
            </a:r>
            <a:br/>
            <a:r>
              <a:t>before live use.</a:t>
            </a:r>
            <a:br/>
            <a:br/>
            <a:r>
              <a:t>Ensure reliability through</a:t>
            </a:r>
            <a:br/>
            <a:r>
              <a:t>data-driven evaluation.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114800"/>
            <a:ext cx="4389120" cy="1645920"/>
          </a:xfrm>
          <a:prstGeom prst="roundRect">
            <a:avLst/>
          </a:prstGeom>
          <a:solidFill>
            <a:srgbClr val="0A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206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Backtest Result Preview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5303520"/>
            <a:ext cx="201168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87768" y="5120640"/>
            <a:ext cx="201168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26096" y="5212080"/>
            <a:ext cx="201168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64424" y="4846320"/>
            <a:ext cx="201168" cy="731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02752" y="5029200"/>
            <a:ext cx="201168" cy="5486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4663440"/>
            <a:ext cx="201168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79408" y="4937760"/>
            <a:ext cx="201168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17736" y="4754880"/>
            <a:ext cx="201168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56064" y="5120640"/>
            <a:ext cx="201168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94392" y="4846320"/>
            <a:ext cx="201168" cy="731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332720" y="4572000"/>
            <a:ext cx="20116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71048" y="5029200"/>
            <a:ext cx="201168" cy="5486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MVP (Minimum Viable Product)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6032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Indicator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Calculation and signal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6304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25603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057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Endpoints for frontend 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2560320" cy="50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Binance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Spot data feed and pair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6304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5603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057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Historical validation and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105156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Telegram Alert Details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526280"/>
            <a:ext cx="137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453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Entry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Exact price level for trade entry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526280"/>
            <a:ext cx="137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453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Timeframe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Active timeframe (5m, 15m, 1h, 4h)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5212080"/>
            <a:ext cx="137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5138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Trading Pair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Supported Binance Spot pairs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5212080"/>
            <a:ext cx="137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138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Signal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BUY or SELL with confidence level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Design Scheme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6032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Entity relationships</a:t>
            </a:r>
            <a:br/>
            <a:r>
              <a:t>and data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25603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UML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Class structure</a:t>
            </a:r>
            <a:br/>
            <a:r>
              <a:t>and interfaces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560320" cy="50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Sequence Diagram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Component</a:t>
            </a:r>
            <a:br/>
            <a:r>
              <a:t>interactions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Signal Flowchart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Generation</a:t>
            </a:r>
            <a:br/>
            <a:r>
              <a:t>process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74720"/>
            <a:ext cx="10515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Calibri"/>
              </a:defRPr>
            </a:pPr>
            <a:r>
              <a:t>SIGNAL GENERATION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206240"/>
            <a:ext cx="155448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Market</a:t>
            </a:r>
            <a:br/>
            <a:r>
              <a:t>Data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60320" y="457200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2608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0" y="4206240"/>
            <a:ext cx="15544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Indicator</a:t>
            </a:r>
            <a:br/>
            <a:r>
              <a:t>Calculation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572000" y="457200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3776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37760" y="4206240"/>
            <a:ext cx="1554480" cy="50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Signal</a:t>
            </a:r>
            <a:br/>
            <a:r>
              <a:t>Validation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583680" y="457200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4944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0" y="4206240"/>
            <a:ext cx="155448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Backtest</a:t>
            </a:r>
            <a:br/>
            <a:r>
              <a:t>Evaluation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595360" y="457200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6112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4206240"/>
            <a:ext cx="1554480" cy="508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Telegram</a:t>
            </a:r>
            <a:br/>
            <a:r>
              <a:t>Notification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Task Plan (Timeline)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Market 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88920" y="320040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0" y="1371600"/>
            <a:ext cx="2011680" cy="82296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Architecture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Indicator logic design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74920" y="320040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0" y="1371600"/>
            <a:ext cx="2011680" cy="82296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Backend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Frontend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Binance integration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60920" y="320040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89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9520" y="1371600"/>
            <a:ext cx="2011680" cy="82296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Backtesting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Performance evaluation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46920" y="320040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75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75520" y="1371600"/>
            <a:ext cx="2011680" cy="822960"/>
          </a:xfrm>
          <a:prstGeom prst="roundRect">
            <a:avLst/>
          </a:prstGeom>
          <a:solidFill>
            <a:srgbClr val="00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Finalization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Optimization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Documentation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&amp; Expected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48840"/>
            <a:ext cx="228600" cy="228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1031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Improved signal quality compared to</a:t>
            </a:r>
            <a:br/>
            <a:r>
              <a:t>single-indicator systems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788920"/>
            <a:ext cx="228600" cy="228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743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Scientifically validated performance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429000"/>
            <a:ext cx="228600" cy="228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3832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Reduced emotional trading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069080"/>
            <a:ext cx="228600" cy="228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Practical tool for spot traders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1FF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103120"/>
            <a:ext cx="4480560" cy="10515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103120"/>
            <a:ext cx="50800" cy="10515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Educational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Contributes to academic research</a:t>
            </a:r>
            <a:br/>
            <a:r>
              <a:t>in quantitative trading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383280"/>
            <a:ext cx="4480560" cy="10515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3383280"/>
            <a:ext cx="50800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Research Contribution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Novel composite indicator approach</a:t>
            </a:r>
            <a:br/>
            <a:r>
              <a:t>for crypto markets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663440"/>
            <a:ext cx="4480560" cy="10515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4663440"/>
            <a:ext cx="50800" cy="105156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Startup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Potential for commercial product</a:t>
            </a:r>
            <a:br/>
            <a:r>
              <a:t>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515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Murphy, J. J. (1999). Technical Analysis of the Financial Markets: A Comprehensive Guide to Trading Methods and Applications. New York Institute of Finance.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745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Wilder, J. W. (1978). New Concepts in Technical Trading Systems. Trend Research.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31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Bollinger, J. (2002). Bollinger on Bollinger Bands. McGraw-Hill.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Appel, G. (2005). Technical Analysis: Power Tools for Active Investors. FT Press.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461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Binance. (2025). Binance API Documentation. https://binance-docs.github.io/apidocs/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03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Nakamoto, S. (2008). Bitcoin: A Peer-to-Peer Electronic Cash System. https://bitcoin.org/bitcoin.pdf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605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Fama, E. F. (1970). Efficient Capital Markets: A Review of Theory and Empirical Work. The Journal of Finance, 25(2), 383–417.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[8]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17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Aronson, D. R. (2006). Evidence-Based Technical Analysis: Applying the Scientific Method and Statistical Inference to Trading Signals. Wiley.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074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 Prado, M. L. (2018). Advances in Financial Machine Learning. Wiley.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[10]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321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Chan, E. P. (2013). Algorithmic Trading: Winning Strategies and Their Rationale. Wiley.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APA 7th Edition 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